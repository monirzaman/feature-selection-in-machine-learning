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1" r:id="rId3"/>
    <p:sldId id="269" r:id="rId4"/>
    <p:sldId id="267" r:id="rId5"/>
    <p:sldId id="268" r:id="rId6"/>
    <p:sldId id="262" r:id="rId7"/>
    <p:sldId id="263" r:id="rId8"/>
    <p:sldId id="257" r:id="rId9"/>
    <p:sldId id="264" r:id="rId10"/>
    <p:sldId id="258" r:id="rId11"/>
    <p:sldId id="265" r:id="rId12"/>
    <p:sldId id="259" r:id="rId13"/>
    <p:sldId id="266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7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B0F9B-3308-494A-9602-746E113A7809}" type="datetimeFigureOut">
              <a:rPr lang="en-CA" smtClean="0"/>
              <a:t>2018-11-15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20298-5193-4C28-BC80-98B3D7CC4A7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3972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82CFD-133A-4591-BCF2-B94DC80CB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7FD347-F7A2-4717-8574-2E8E66140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1439C-7E6F-48EC-9F31-558E066C2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E8ED-19FE-4862-B5DC-C69731B9F856}" type="datetime1">
              <a:rPr lang="en-CA" smtClean="0"/>
              <a:t>2018-11-15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F711F-E3FB-419F-9743-27E9CBA9A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EC0BE-AAEF-4E18-AED9-939D33C9E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CF15-A882-4042-BF40-60BCDA8F6A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840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F8AFE-F0A2-41A0-A6FD-B2BD4AEFB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D3CD2-9C15-4B08-8057-E5079E694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610EC-5A1B-4205-B8DD-0177B9708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068EA-19EA-47A8-9F5B-68898858692B}" type="datetime1">
              <a:rPr lang="en-CA" smtClean="0"/>
              <a:t>2018-11-15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AC368-BCF9-4987-803E-4528EC6AA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653AE-81CB-4FEF-899B-929E60375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CF15-A882-4042-BF40-60BCDA8F6A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547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8E3E1-5FC3-4ECC-8625-9B53916F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E7D76-9052-4956-B5DA-35958789E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494FC-D155-4DB4-BF7C-E334C79A4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4F08-7451-4209-B4D1-57544AEA9A0C}" type="datetime1">
              <a:rPr lang="en-CA" smtClean="0"/>
              <a:t>2018-11-15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1F628-1E01-4084-B2D7-DAD600312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36690-6D37-4A95-B810-FDF6475A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CF15-A882-4042-BF40-60BCDA8F6A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9146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3819-1075-40E9-BE45-17A65D48D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68CB3-36AF-41E7-97EC-4FB11EF5D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86530-97AA-4865-8AC1-11A700305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016F4-2BE8-4D3F-A98A-914144096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2D56-5B35-4F18-8C01-9FAEC2514D58}" type="datetime1">
              <a:rPr lang="en-CA" smtClean="0"/>
              <a:t>2018-11-15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A7FFB-97EE-4733-9800-F6CB3516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9299E-CCB0-463C-AE56-52170466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CF15-A882-4042-BF40-60BCDA8F6A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6720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D722F-413B-4B34-88E6-450C9C589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26B34-D0D4-4A36-AD92-38F4EDF75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C868D-33AF-4130-B6C4-70AC5B00A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315EE4-AEDC-492E-9611-A88632B00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A48B7C-DB3F-4CB4-BAB6-39973C9298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59CE12-6D22-4CE6-BB24-3DEEB2BEF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D11C-290B-47B5-B0DF-1C086A4BFEA1}" type="datetime1">
              <a:rPr lang="en-CA" smtClean="0"/>
              <a:t>2018-11-15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CC3761-FF03-4759-A583-B5EFFE943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58D508-1A2A-49FE-92D7-3133FE138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CF15-A882-4042-BF40-60BCDA8F6A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686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61245-4AF0-4430-A409-93E2730BD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562498-00B8-4D77-A27E-683F013F1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0205D-E3B8-4E61-86C9-3213CE3A1879}" type="datetime1">
              <a:rPr lang="en-CA" smtClean="0"/>
              <a:t>2018-11-15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102BA-E11E-4EED-BF97-8D89E7567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D622C-67E6-4B7C-BD75-3EB6A696F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CF15-A882-4042-BF40-60BCDA8F6A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3426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824752-3E08-42A4-BE39-CFB23430B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0F526-A73D-4462-B37C-A983A4EFD184}" type="datetime1">
              <a:rPr lang="en-CA" smtClean="0"/>
              <a:t>2018-11-15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DC7371-AB37-4BEB-B66F-BD2FF87A4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9DB52-AFD3-4514-A9F4-0EE6CC8B2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CF15-A882-4042-BF40-60BCDA8F6A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3341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708C0-F996-4832-9127-71447D933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AD3CC-AEF8-4EAB-B0E2-896235838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F61EBF-A5B7-4E70-97D4-3848FA153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4E6C5-7C1A-4C5A-9057-42974DA88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ECA7-BA60-48B4-9049-A3B24B7219C4}" type="datetime1">
              <a:rPr lang="en-CA" smtClean="0"/>
              <a:t>2018-11-15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06314-3BDB-49C9-AFD4-30C805DC8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13180-3B70-4AD6-BC4E-720812CE4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CF15-A882-4042-BF40-60BCDA8F6A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0899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D6C85-F350-4C71-9869-9E408DCBA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4CD733-E819-4839-A7B0-EF9AB71CE7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E2AA3C-57D3-4A53-9393-CB657E8DE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CE26C-8C6B-4263-85F2-90E89A628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92074-5063-4419-931C-3C7B4EB7F107}" type="datetime1">
              <a:rPr lang="en-CA" smtClean="0"/>
              <a:t>2018-11-15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8AB84-DFBD-4550-8185-023FF7BCE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EA983-4BC0-4C91-B8C4-7C7D4CCA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CF15-A882-4042-BF40-60BCDA8F6A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2298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CBF38-6810-4625-8FF3-697651F0C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E4E00-F85C-48F5-B555-4B19B60C9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4C455-4257-4A36-81BB-742A87A3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BB104-2B1F-4A08-B401-0449A63613FF}" type="datetime1">
              <a:rPr lang="en-CA" smtClean="0"/>
              <a:t>2018-11-15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48E91-DB90-4F58-AA7B-0DC09C636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827E2-19B8-4C82-92F5-5C2B3EC25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CF15-A882-4042-BF40-60BCDA8F6A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9625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52D31E-8EF1-4CCC-BCEB-E22E19C36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E77B3E-98CE-4A9D-8A53-B9519EA57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7BF3E-2B85-4C30-BBAC-9F7DAF63B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CFE5-03C6-468D-B6EA-995FF73D5D9E}" type="datetime1">
              <a:rPr lang="en-CA" smtClean="0"/>
              <a:t>2018-11-15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B9987-68D1-47B4-A81F-6B2B2B8D3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E075C-7BAF-4C5C-88C6-458BF86A9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0CF15-A882-4042-BF40-60BCDA8F6A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148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B6C716-0259-4887-99AA-5A1489343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5A814-34B2-4CE6-9FA3-4A0E2E3C8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3049B-DC31-41FC-9ED8-14D0E3B5D1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F1064-72BC-471C-8DA4-D42326FF1DE4}" type="datetime1">
              <a:rPr lang="en-CA" smtClean="0"/>
              <a:t>2018-11-15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06783-BB36-4299-A314-A08A0EAD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Monir Zaman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E9C57-0036-4E34-88C7-2E84340BDD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0CF15-A882-4042-BF40-60BCDA8F6A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3027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243BC-DE81-408A-B171-1CCC832911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Feature selection using Recursive Feature Elimination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B7B389-6F77-4671-93E1-B26890F685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Monir Zaman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AC97A-0765-43A1-B2BA-535CAE8BF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</p:spTree>
    <p:extLst>
      <p:ext uri="{BB962C8B-B14F-4D97-AF65-F5344CB8AC3E}">
        <p14:creationId xmlns:p14="http://schemas.microsoft.com/office/powerpoint/2010/main" val="973317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CD666-FBC2-4333-A3FA-6B9445F7E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3FF8B-DE82-4EDC-B696-D17964B3B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Feature selection is an important step in the machine learning workflow. It is process of identifying important predictors and remove unnecessary features. 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Why needed:</a:t>
            </a:r>
          </a:p>
          <a:p>
            <a:r>
              <a:rPr lang="en-CA" dirty="0"/>
              <a:t>Feature selection useful to prevent overfitting </a:t>
            </a:r>
          </a:p>
          <a:p>
            <a:r>
              <a:rPr lang="en-CA" dirty="0"/>
              <a:t>Reduce dimensions</a:t>
            </a:r>
          </a:p>
          <a:p>
            <a:r>
              <a:rPr lang="en-CA" dirty="0"/>
              <a:t>Helps to understand the data</a:t>
            </a:r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C61542-AF8C-4BB2-B52E-2CFDF933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</p:spTree>
    <p:extLst>
      <p:ext uri="{BB962C8B-B14F-4D97-AF65-F5344CB8AC3E}">
        <p14:creationId xmlns:p14="http://schemas.microsoft.com/office/powerpoint/2010/main" val="634633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D2BAA-619D-423E-8264-BCF43D6D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Feature selection in Machine learning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E5AD2-4AFD-4A20-90D2-454FD1A8F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Typically applied between data-preprocessing and model building.</a:t>
            </a:r>
          </a:p>
        </p:txBody>
      </p:sp>
      <p:pic>
        <p:nvPicPr>
          <p:cNvPr id="1026" name="Picture 2" descr="http://s5047.pcdn.co/wp-content/uploads/2016/07/abhishek_25.png">
            <a:extLst>
              <a:ext uri="{FF2B5EF4-FFF2-40B4-BE49-F238E27FC236}">
                <a16:creationId xmlns:a16="http://schemas.microsoft.com/office/drawing/2014/main" id="{811B660E-6C0B-46A1-9A47-4BE00A2FE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584" y="2518419"/>
            <a:ext cx="6828692" cy="3789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5F19A2-46A1-4FF6-8AB5-658D22256FD4}"/>
              </a:ext>
            </a:extLst>
          </p:cNvPr>
          <p:cNvSpPr txBox="1"/>
          <p:nvPr/>
        </p:nvSpPr>
        <p:spPr>
          <a:xfrm>
            <a:off x="7447086" y="6611816"/>
            <a:ext cx="48181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Image courtesy: http://s5047.pcdn.co/wp-content/uploads/2016/07/abhishek_25.png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E8A74-54EF-41E7-BA06-B1B58BD5B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</p:spTree>
    <p:extLst>
      <p:ext uri="{BB962C8B-B14F-4D97-AF65-F5344CB8AC3E}">
        <p14:creationId xmlns:p14="http://schemas.microsoft.com/office/powerpoint/2010/main" val="2019388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61A87-BF25-468B-8D7D-1BE68B27B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Feature selection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3CB26-A587-4AEA-A20D-1182F7BFE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Univariate feature selection</a:t>
            </a:r>
          </a:p>
          <a:p>
            <a:pPr lvl="1"/>
            <a:r>
              <a:rPr lang="en-CA" dirty="0"/>
              <a:t>Example: Correlation-based selection </a:t>
            </a:r>
          </a:p>
          <a:p>
            <a:r>
              <a:rPr lang="en-CA" dirty="0"/>
              <a:t>Multivariate feature selection</a:t>
            </a:r>
          </a:p>
          <a:p>
            <a:pPr lvl="1"/>
            <a:r>
              <a:rPr lang="en-CA" dirty="0"/>
              <a:t>Example: Recursive feature elimination using Cross-Validation (RFECV)</a:t>
            </a:r>
          </a:p>
          <a:p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519EFB-23EB-4A35-A9C3-AF18F07F8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</p:spTree>
    <p:extLst>
      <p:ext uri="{BB962C8B-B14F-4D97-AF65-F5344CB8AC3E}">
        <p14:creationId xmlns:p14="http://schemas.microsoft.com/office/powerpoint/2010/main" val="3041711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CAD3-EEC8-40BD-8CB4-49355E9E1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CA" sz="2400" dirty="0"/>
              <a:t>Recursive feature elimination using Cross-Validation (RFECV)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FC792-460C-483C-9C30-3E541D645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RFECV applies RFE on k-fold cross-validation of the training dataset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RFE stands for Recursive feature elimination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RFE recursively removes features by m features at a time. Default m = 1. It repeats the process until all the features are exhausted or number of features reached the threshold of minimum number of features to select</a:t>
            </a:r>
          </a:p>
          <a:p>
            <a:pPr lvl="1"/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32815-95AB-444D-97E7-996862E25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</p:spTree>
    <p:extLst>
      <p:ext uri="{BB962C8B-B14F-4D97-AF65-F5344CB8AC3E}">
        <p14:creationId xmlns:p14="http://schemas.microsoft.com/office/powerpoint/2010/main" val="2768817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DE183-9CBA-4A5C-8BE8-3225F65B1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DEF89-6EE5-493C-84D2-E8880BF34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DD157F-F5B5-49E6-ABA7-DEC3A2E33D39}"/>
              </a:ext>
            </a:extLst>
          </p:cNvPr>
          <p:cNvSpPr/>
          <p:nvPr/>
        </p:nvSpPr>
        <p:spPr>
          <a:xfrm>
            <a:off x="3648808" y="3198167"/>
            <a:ext cx="5369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CA" sz="2400" dirty="0"/>
              <a:t>Recursive feature elimination (</a:t>
            </a:r>
            <a:r>
              <a:rPr lang="en-CA" sz="2400" dirty="0" err="1"/>
              <a:t>rfe</a:t>
            </a:r>
            <a:r>
              <a:rPr lang="en-CA" sz="2400" dirty="0"/>
              <a:t>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6F883-7106-4CCF-8F64-32BEC6815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</p:spTree>
    <p:extLst>
      <p:ext uri="{BB962C8B-B14F-4D97-AF65-F5344CB8AC3E}">
        <p14:creationId xmlns:p14="http://schemas.microsoft.com/office/powerpoint/2010/main" val="2787539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09D2F9-1F96-4D21-A02B-1F53AAC93DC8}"/>
              </a:ext>
            </a:extLst>
          </p:cNvPr>
          <p:cNvSpPr txBox="1"/>
          <p:nvPr/>
        </p:nvSpPr>
        <p:spPr>
          <a:xfrm>
            <a:off x="4247621" y="204529"/>
            <a:ext cx="116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A6A2CD-9CFA-4FA3-B0F9-384298083DC2}"/>
              </a:ext>
            </a:extLst>
          </p:cNvPr>
          <p:cNvSpPr txBox="1"/>
          <p:nvPr/>
        </p:nvSpPr>
        <p:spPr>
          <a:xfrm>
            <a:off x="168176" y="143005"/>
            <a:ext cx="334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                                X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0D05FA62-55A4-4ABB-9A42-10D748B9C2E0}"/>
              </a:ext>
            </a:extLst>
          </p:cNvPr>
          <p:cNvSpPr/>
          <p:nvPr/>
        </p:nvSpPr>
        <p:spPr>
          <a:xfrm rot="5400000">
            <a:off x="1887074" y="-775791"/>
            <a:ext cx="193431" cy="278716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0BF1171-BC6E-4574-9A8E-6EAD1725712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43190" y="773669"/>
          <a:ext cx="4774972" cy="221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971">
                  <a:extLst>
                    <a:ext uri="{9D8B030D-6E8A-4147-A177-3AD203B41FA5}">
                      <a16:colId xmlns:a16="http://schemas.microsoft.com/office/drawing/2014/main" val="1499869525"/>
                    </a:ext>
                  </a:extLst>
                </a:gridCol>
                <a:gridCol w="1245141">
                  <a:extLst>
                    <a:ext uri="{9D8B030D-6E8A-4147-A177-3AD203B41FA5}">
                      <a16:colId xmlns:a16="http://schemas.microsoft.com/office/drawing/2014/main" val="2802160851"/>
                    </a:ext>
                  </a:extLst>
                </a:gridCol>
                <a:gridCol w="870195">
                  <a:extLst>
                    <a:ext uri="{9D8B030D-6E8A-4147-A177-3AD203B41FA5}">
                      <a16:colId xmlns:a16="http://schemas.microsoft.com/office/drawing/2014/main" val="917520392"/>
                    </a:ext>
                  </a:extLst>
                </a:gridCol>
                <a:gridCol w="1122665">
                  <a:extLst>
                    <a:ext uri="{9D8B030D-6E8A-4147-A177-3AD203B41FA5}">
                      <a16:colId xmlns:a16="http://schemas.microsoft.com/office/drawing/2014/main" val="2050734818"/>
                    </a:ext>
                  </a:extLst>
                </a:gridCol>
              </a:tblGrid>
              <a:tr h="673535">
                <a:tc>
                  <a:txBody>
                    <a:bodyPr/>
                    <a:lstStyle/>
                    <a:p>
                      <a:r>
                        <a:rPr lang="en-CA" dirty="0"/>
                        <a:t># bedrooms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Price (1k)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5273"/>
                  </a:ext>
                </a:extLst>
              </a:tr>
              <a:tr h="384877">
                <a:tc>
                  <a:txBody>
                    <a:bodyPr/>
                    <a:lstStyle/>
                    <a:p>
                      <a:r>
                        <a:rPr lang="en-CA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627901"/>
                  </a:ext>
                </a:extLst>
              </a:tr>
              <a:tr h="384877">
                <a:tc>
                  <a:txBody>
                    <a:bodyPr/>
                    <a:lstStyle/>
                    <a:p>
                      <a:r>
                        <a:rPr lang="en-CA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520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383753"/>
                  </a:ext>
                </a:extLst>
              </a:tr>
              <a:tr h="384877">
                <a:tc>
                  <a:txBody>
                    <a:bodyPr/>
                    <a:lstStyle/>
                    <a:p>
                      <a:r>
                        <a:rPr lang="en-CA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410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389708"/>
                  </a:ext>
                </a:extLst>
              </a:tr>
              <a:tr h="384877">
                <a:tc>
                  <a:txBody>
                    <a:bodyPr/>
                    <a:lstStyle/>
                    <a:p>
                      <a:r>
                        <a:rPr lang="en-CA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880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872828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2533C0F-A3A1-44E3-9B17-570CF248E91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972870" y="3429000"/>
          <a:ext cx="3604976" cy="1193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981">
                  <a:extLst>
                    <a:ext uri="{9D8B030D-6E8A-4147-A177-3AD203B41FA5}">
                      <a16:colId xmlns:a16="http://schemas.microsoft.com/office/drawing/2014/main" val="4172819880"/>
                    </a:ext>
                  </a:extLst>
                </a:gridCol>
                <a:gridCol w="1320077">
                  <a:extLst>
                    <a:ext uri="{9D8B030D-6E8A-4147-A177-3AD203B41FA5}">
                      <a16:colId xmlns:a16="http://schemas.microsoft.com/office/drawing/2014/main" val="1382468681"/>
                    </a:ext>
                  </a:extLst>
                </a:gridCol>
                <a:gridCol w="858918">
                  <a:extLst>
                    <a:ext uri="{9D8B030D-6E8A-4147-A177-3AD203B41FA5}">
                      <a16:colId xmlns:a16="http://schemas.microsoft.com/office/drawing/2014/main" val="1180520256"/>
                    </a:ext>
                  </a:extLst>
                </a:gridCol>
              </a:tblGrid>
              <a:tr h="596561">
                <a:tc>
                  <a:txBody>
                    <a:bodyPr/>
                    <a:lstStyle/>
                    <a:p>
                      <a:r>
                        <a:rPr lang="en-CA" dirty="0"/>
                        <a:t># bedrooms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081895"/>
                  </a:ext>
                </a:extLst>
              </a:tr>
              <a:tr h="596561">
                <a:tc>
                  <a:txBody>
                    <a:bodyPr/>
                    <a:lstStyle/>
                    <a:p>
                      <a:r>
                        <a:rPr lang="en-CA" dirty="0"/>
                        <a:t>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33468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3FAC509-22FD-4C58-AD34-6652C1A093FE}"/>
              </a:ext>
            </a:extLst>
          </p:cNvPr>
          <p:cNvSpPr txBox="1"/>
          <p:nvPr/>
        </p:nvSpPr>
        <p:spPr>
          <a:xfrm>
            <a:off x="4523362" y="3063378"/>
            <a:ext cx="2869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model.feature_importance</a:t>
            </a:r>
            <a:endParaRPr lang="en-CA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41C751-81EF-4766-951E-C6AD8E58E9DF}"/>
              </a:ext>
            </a:extLst>
          </p:cNvPr>
          <p:cNvSpPr txBox="1"/>
          <p:nvPr/>
        </p:nvSpPr>
        <p:spPr>
          <a:xfrm>
            <a:off x="7973375" y="714506"/>
            <a:ext cx="3086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Scores ( r-squared on Test set)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3382275E-8D8C-44EE-8F6C-0DC9FBB673A2}"/>
              </a:ext>
            </a:extLst>
          </p:cNvPr>
          <p:cNvSpPr/>
          <p:nvPr/>
        </p:nvSpPr>
        <p:spPr>
          <a:xfrm rot="5400000">
            <a:off x="916830" y="3232017"/>
            <a:ext cx="493681" cy="4353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ED2224-1642-4336-ABC6-65FF9E08265F}"/>
              </a:ext>
            </a:extLst>
          </p:cNvPr>
          <p:cNvSpPr txBox="1"/>
          <p:nvPr/>
        </p:nvSpPr>
        <p:spPr>
          <a:xfrm>
            <a:off x="243190" y="3781956"/>
            <a:ext cx="232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Model fit on Train set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4155E61-6412-466B-8171-91B22D2D0439}"/>
              </a:ext>
            </a:extLst>
          </p:cNvPr>
          <p:cNvSpPr/>
          <p:nvPr/>
        </p:nvSpPr>
        <p:spPr>
          <a:xfrm>
            <a:off x="590207" y="4381469"/>
            <a:ext cx="1082949" cy="7504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Train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B4D9042-10A9-4989-A9A6-C49A6D5833E7}"/>
              </a:ext>
            </a:extLst>
          </p:cNvPr>
          <p:cNvSpPr/>
          <p:nvPr/>
        </p:nvSpPr>
        <p:spPr>
          <a:xfrm>
            <a:off x="590207" y="5285624"/>
            <a:ext cx="1082949" cy="7504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Test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6AAC37-7BD3-450A-942F-1CAE9DCCFB31}"/>
              </a:ext>
            </a:extLst>
          </p:cNvPr>
          <p:cNvSpPr/>
          <p:nvPr/>
        </p:nvSpPr>
        <p:spPr>
          <a:xfrm>
            <a:off x="243190" y="3696514"/>
            <a:ext cx="2470827" cy="28222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C91A029-C088-458B-91F6-BB90BD027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269944"/>
              </p:ext>
            </p:extLst>
          </p:nvPr>
        </p:nvGraphicFramePr>
        <p:xfrm>
          <a:off x="6391072" y="1061272"/>
          <a:ext cx="5233482" cy="511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494">
                  <a:extLst>
                    <a:ext uri="{9D8B030D-6E8A-4147-A177-3AD203B41FA5}">
                      <a16:colId xmlns:a16="http://schemas.microsoft.com/office/drawing/2014/main" val="2497960885"/>
                    </a:ext>
                  </a:extLst>
                </a:gridCol>
                <a:gridCol w="1744494">
                  <a:extLst>
                    <a:ext uri="{9D8B030D-6E8A-4147-A177-3AD203B41FA5}">
                      <a16:colId xmlns:a16="http://schemas.microsoft.com/office/drawing/2014/main" val="3014459549"/>
                    </a:ext>
                  </a:extLst>
                </a:gridCol>
                <a:gridCol w="1744494">
                  <a:extLst>
                    <a:ext uri="{9D8B030D-6E8A-4147-A177-3AD203B41FA5}">
                      <a16:colId xmlns:a16="http://schemas.microsoft.com/office/drawing/2014/main" val="3730919366"/>
                    </a:ext>
                  </a:extLst>
                </a:gridCol>
              </a:tblGrid>
              <a:tr h="511674">
                <a:tc>
                  <a:txBody>
                    <a:bodyPr/>
                    <a:lstStyle/>
                    <a:p>
                      <a:r>
                        <a:rPr lang="en-CA" sz="1400" b="0" dirty="0">
                          <a:solidFill>
                            <a:schemeClr val="tx1"/>
                          </a:solidFill>
                        </a:rPr>
                        <a:t>.78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53496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F74F914C-5C92-4E59-B01C-9E5986DECD62}"/>
              </a:ext>
            </a:extLst>
          </p:cNvPr>
          <p:cNvSpPr txBox="1"/>
          <p:nvPr/>
        </p:nvSpPr>
        <p:spPr>
          <a:xfrm>
            <a:off x="7989585" y="1645115"/>
            <a:ext cx="2869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ranking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71632CC-659D-4D8E-B3DC-2BA98DC96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765631"/>
              </p:ext>
            </p:extLst>
          </p:nvPr>
        </p:nvGraphicFramePr>
        <p:xfrm>
          <a:off x="6391071" y="1970193"/>
          <a:ext cx="5411820" cy="1023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940">
                  <a:extLst>
                    <a:ext uri="{9D8B030D-6E8A-4147-A177-3AD203B41FA5}">
                      <a16:colId xmlns:a16="http://schemas.microsoft.com/office/drawing/2014/main" val="2497960885"/>
                    </a:ext>
                  </a:extLst>
                </a:gridCol>
                <a:gridCol w="1803940">
                  <a:extLst>
                    <a:ext uri="{9D8B030D-6E8A-4147-A177-3AD203B41FA5}">
                      <a16:colId xmlns:a16="http://schemas.microsoft.com/office/drawing/2014/main" val="3014459549"/>
                    </a:ext>
                  </a:extLst>
                </a:gridCol>
                <a:gridCol w="1803940">
                  <a:extLst>
                    <a:ext uri="{9D8B030D-6E8A-4147-A177-3AD203B41FA5}">
                      <a16:colId xmlns:a16="http://schemas.microsoft.com/office/drawing/2014/main" val="3730919366"/>
                    </a:ext>
                  </a:extLst>
                </a:gridCol>
              </a:tblGrid>
              <a:tr h="511674">
                <a:tc>
                  <a:txBody>
                    <a:bodyPr/>
                    <a:lstStyle/>
                    <a:p>
                      <a:r>
                        <a:rPr lang="en-CA" dirty="0"/>
                        <a:t># bedrooms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534965"/>
                  </a:ext>
                </a:extLst>
              </a:tr>
              <a:tr h="511674">
                <a:tc>
                  <a:txBody>
                    <a:bodyPr/>
                    <a:lstStyle/>
                    <a:p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272018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33973174-80F8-4D99-A319-70BAD442BCFD}"/>
              </a:ext>
            </a:extLst>
          </p:cNvPr>
          <p:cNvSpPr txBox="1"/>
          <p:nvPr/>
        </p:nvSpPr>
        <p:spPr>
          <a:xfrm>
            <a:off x="5794814" y="78637"/>
            <a:ext cx="3882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Program flow of </a:t>
            </a:r>
            <a:r>
              <a:rPr lang="en-CA" dirty="0" err="1"/>
              <a:t>rfe</a:t>
            </a:r>
            <a:r>
              <a:rPr lang="en-CA" dirty="0"/>
              <a:t> (_</a:t>
            </a:r>
            <a:r>
              <a:rPr lang="en-CA" dirty="0" err="1"/>
              <a:t>rfe_single_fit</a:t>
            </a:r>
            <a:r>
              <a:rPr lang="en-CA" dirty="0"/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CC1E8B-64CC-4B29-8FFD-9F7359E51E9E}"/>
              </a:ext>
            </a:extLst>
          </p:cNvPr>
          <p:cNvSpPr/>
          <p:nvPr/>
        </p:nvSpPr>
        <p:spPr>
          <a:xfrm>
            <a:off x="7348672" y="3573329"/>
            <a:ext cx="43400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CA" dirty="0"/>
              <a:t>Task: Calculate scores of the feature set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0633E7-B8A5-4A8D-BABA-8203945EB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</p:spTree>
    <p:extLst>
      <p:ext uri="{BB962C8B-B14F-4D97-AF65-F5344CB8AC3E}">
        <p14:creationId xmlns:p14="http://schemas.microsoft.com/office/powerpoint/2010/main" val="681087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09D2F9-1F96-4D21-A02B-1F53AAC93DC8}"/>
              </a:ext>
            </a:extLst>
          </p:cNvPr>
          <p:cNvSpPr txBox="1"/>
          <p:nvPr/>
        </p:nvSpPr>
        <p:spPr>
          <a:xfrm>
            <a:off x="4247621" y="204529"/>
            <a:ext cx="116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A6A2CD-9CFA-4FA3-B0F9-384298083DC2}"/>
              </a:ext>
            </a:extLst>
          </p:cNvPr>
          <p:cNvSpPr txBox="1"/>
          <p:nvPr/>
        </p:nvSpPr>
        <p:spPr>
          <a:xfrm>
            <a:off x="168176" y="143005"/>
            <a:ext cx="334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                                X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0D05FA62-55A4-4ABB-9A42-10D748B9C2E0}"/>
              </a:ext>
            </a:extLst>
          </p:cNvPr>
          <p:cNvSpPr/>
          <p:nvPr/>
        </p:nvSpPr>
        <p:spPr>
          <a:xfrm rot="5400000">
            <a:off x="1887074" y="-775791"/>
            <a:ext cx="193431" cy="278716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0BF1171-BC6E-4574-9A8E-6EAD17257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043626"/>
              </p:ext>
            </p:extLst>
          </p:nvPr>
        </p:nvGraphicFramePr>
        <p:xfrm>
          <a:off x="243190" y="773669"/>
          <a:ext cx="4774972" cy="221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971">
                  <a:extLst>
                    <a:ext uri="{9D8B030D-6E8A-4147-A177-3AD203B41FA5}">
                      <a16:colId xmlns:a16="http://schemas.microsoft.com/office/drawing/2014/main" val="1499869525"/>
                    </a:ext>
                  </a:extLst>
                </a:gridCol>
                <a:gridCol w="1245141">
                  <a:extLst>
                    <a:ext uri="{9D8B030D-6E8A-4147-A177-3AD203B41FA5}">
                      <a16:colId xmlns:a16="http://schemas.microsoft.com/office/drawing/2014/main" val="2802160851"/>
                    </a:ext>
                  </a:extLst>
                </a:gridCol>
                <a:gridCol w="870195">
                  <a:extLst>
                    <a:ext uri="{9D8B030D-6E8A-4147-A177-3AD203B41FA5}">
                      <a16:colId xmlns:a16="http://schemas.microsoft.com/office/drawing/2014/main" val="917520392"/>
                    </a:ext>
                  </a:extLst>
                </a:gridCol>
                <a:gridCol w="1122665">
                  <a:extLst>
                    <a:ext uri="{9D8B030D-6E8A-4147-A177-3AD203B41FA5}">
                      <a16:colId xmlns:a16="http://schemas.microsoft.com/office/drawing/2014/main" val="2050734818"/>
                    </a:ext>
                  </a:extLst>
                </a:gridCol>
              </a:tblGrid>
              <a:tr h="673535">
                <a:tc>
                  <a:txBody>
                    <a:bodyPr/>
                    <a:lstStyle/>
                    <a:p>
                      <a:r>
                        <a:rPr lang="en-CA" dirty="0"/>
                        <a:t># bedrooms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Price (1k)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5273"/>
                  </a:ext>
                </a:extLst>
              </a:tr>
              <a:tr h="384877">
                <a:tc>
                  <a:txBody>
                    <a:bodyPr/>
                    <a:lstStyle/>
                    <a:p>
                      <a:r>
                        <a:rPr lang="en-CA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627901"/>
                  </a:ext>
                </a:extLst>
              </a:tr>
              <a:tr h="384877">
                <a:tc>
                  <a:txBody>
                    <a:bodyPr/>
                    <a:lstStyle/>
                    <a:p>
                      <a:r>
                        <a:rPr lang="en-CA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520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383753"/>
                  </a:ext>
                </a:extLst>
              </a:tr>
              <a:tr h="384877">
                <a:tc>
                  <a:txBody>
                    <a:bodyPr/>
                    <a:lstStyle/>
                    <a:p>
                      <a:r>
                        <a:rPr lang="en-CA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410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389708"/>
                  </a:ext>
                </a:extLst>
              </a:tr>
              <a:tr h="384877">
                <a:tc>
                  <a:txBody>
                    <a:bodyPr/>
                    <a:lstStyle/>
                    <a:p>
                      <a:r>
                        <a:rPr lang="en-CA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880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872828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2533C0F-A3A1-44E3-9B17-570CF248E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808281"/>
              </p:ext>
            </p:extLst>
          </p:nvPr>
        </p:nvGraphicFramePr>
        <p:xfrm>
          <a:off x="3972870" y="3429000"/>
          <a:ext cx="3604976" cy="1193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981">
                  <a:extLst>
                    <a:ext uri="{9D8B030D-6E8A-4147-A177-3AD203B41FA5}">
                      <a16:colId xmlns:a16="http://schemas.microsoft.com/office/drawing/2014/main" val="4172819880"/>
                    </a:ext>
                  </a:extLst>
                </a:gridCol>
                <a:gridCol w="1320077">
                  <a:extLst>
                    <a:ext uri="{9D8B030D-6E8A-4147-A177-3AD203B41FA5}">
                      <a16:colId xmlns:a16="http://schemas.microsoft.com/office/drawing/2014/main" val="1382468681"/>
                    </a:ext>
                  </a:extLst>
                </a:gridCol>
                <a:gridCol w="858918">
                  <a:extLst>
                    <a:ext uri="{9D8B030D-6E8A-4147-A177-3AD203B41FA5}">
                      <a16:colId xmlns:a16="http://schemas.microsoft.com/office/drawing/2014/main" val="1180520256"/>
                    </a:ext>
                  </a:extLst>
                </a:gridCol>
              </a:tblGrid>
              <a:tr h="596561">
                <a:tc>
                  <a:txBody>
                    <a:bodyPr/>
                    <a:lstStyle/>
                    <a:p>
                      <a:r>
                        <a:rPr lang="en-CA" dirty="0"/>
                        <a:t># bedrooms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081895"/>
                  </a:ext>
                </a:extLst>
              </a:tr>
              <a:tr h="596561">
                <a:tc>
                  <a:txBody>
                    <a:bodyPr/>
                    <a:lstStyle/>
                    <a:p>
                      <a:r>
                        <a:rPr lang="en-CA" dirty="0"/>
                        <a:t>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33468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3FAC509-22FD-4C58-AD34-6652C1A093FE}"/>
              </a:ext>
            </a:extLst>
          </p:cNvPr>
          <p:cNvSpPr txBox="1"/>
          <p:nvPr/>
        </p:nvSpPr>
        <p:spPr>
          <a:xfrm>
            <a:off x="4523362" y="3063378"/>
            <a:ext cx="2869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model.feature_importance</a:t>
            </a:r>
            <a:endParaRPr lang="en-CA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699F8FD-A3C1-4C0A-87B2-DD0489BBD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732755"/>
              </p:ext>
            </p:extLst>
          </p:nvPr>
        </p:nvGraphicFramePr>
        <p:xfrm>
          <a:off x="3992326" y="5325666"/>
          <a:ext cx="3604976" cy="1193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981">
                  <a:extLst>
                    <a:ext uri="{9D8B030D-6E8A-4147-A177-3AD203B41FA5}">
                      <a16:colId xmlns:a16="http://schemas.microsoft.com/office/drawing/2014/main" val="4172819880"/>
                    </a:ext>
                  </a:extLst>
                </a:gridCol>
                <a:gridCol w="1320077">
                  <a:extLst>
                    <a:ext uri="{9D8B030D-6E8A-4147-A177-3AD203B41FA5}">
                      <a16:colId xmlns:a16="http://schemas.microsoft.com/office/drawing/2014/main" val="1382468681"/>
                    </a:ext>
                  </a:extLst>
                </a:gridCol>
                <a:gridCol w="858918">
                  <a:extLst>
                    <a:ext uri="{9D8B030D-6E8A-4147-A177-3AD203B41FA5}">
                      <a16:colId xmlns:a16="http://schemas.microsoft.com/office/drawing/2014/main" val="1180520256"/>
                    </a:ext>
                  </a:extLst>
                </a:gridCol>
              </a:tblGrid>
              <a:tr h="596561">
                <a:tc>
                  <a:txBody>
                    <a:bodyPr/>
                    <a:lstStyle/>
                    <a:p>
                      <a:r>
                        <a:rPr lang="en-CA" dirty="0"/>
                        <a:t># bedrooms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081895"/>
                  </a:ext>
                </a:extLst>
              </a:tr>
              <a:tr h="596561">
                <a:tc>
                  <a:txBody>
                    <a:bodyPr/>
                    <a:lstStyle/>
                    <a:p>
                      <a:r>
                        <a:rPr lang="en-CA" dirty="0"/>
                        <a:t>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334686"/>
                  </a:ext>
                </a:extLst>
              </a:tr>
            </a:tbl>
          </a:graphicData>
        </a:graphic>
      </p:graphicFrame>
      <p:sp>
        <p:nvSpPr>
          <p:cNvPr id="20" name="Arrow: Down 19">
            <a:extLst>
              <a:ext uri="{FF2B5EF4-FFF2-40B4-BE49-F238E27FC236}">
                <a16:creationId xmlns:a16="http://schemas.microsoft.com/office/drawing/2014/main" id="{C7A8F7F3-635D-4BFF-AC91-5770A1B5A503}"/>
              </a:ext>
            </a:extLst>
          </p:cNvPr>
          <p:cNvSpPr/>
          <p:nvPr/>
        </p:nvSpPr>
        <p:spPr>
          <a:xfrm>
            <a:off x="5548322" y="4721489"/>
            <a:ext cx="409870" cy="4474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FC228C04-32E9-423A-BFB6-922A980D7EED}"/>
              </a:ext>
            </a:extLst>
          </p:cNvPr>
          <p:cNvSpPr/>
          <p:nvPr/>
        </p:nvSpPr>
        <p:spPr>
          <a:xfrm>
            <a:off x="6663446" y="5527628"/>
            <a:ext cx="914400" cy="789197"/>
          </a:xfrm>
          <a:prstGeom prst="mathMultiply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41C751-81EF-4766-951E-C6AD8E58E9DF}"/>
              </a:ext>
            </a:extLst>
          </p:cNvPr>
          <p:cNvSpPr txBox="1"/>
          <p:nvPr/>
        </p:nvSpPr>
        <p:spPr>
          <a:xfrm>
            <a:off x="7973375" y="714506"/>
            <a:ext cx="3086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Scores ( r-squared on Test set)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3382275E-8D8C-44EE-8F6C-0DC9FBB673A2}"/>
              </a:ext>
            </a:extLst>
          </p:cNvPr>
          <p:cNvSpPr/>
          <p:nvPr/>
        </p:nvSpPr>
        <p:spPr>
          <a:xfrm rot="5400000">
            <a:off x="916830" y="3232017"/>
            <a:ext cx="493681" cy="4353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ED2224-1642-4336-ABC6-65FF9E08265F}"/>
              </a:ext>
            </a:extLst>
          </p:cNvPr>
          <p:cNvSpPr txBox="1"/>
          <p:nvPr/>
        </p:nvSpPr>
        <p:spPr>
          <a:xfrm>
            <a:off x="243190" y="3781956"/>
            <a:ext cx="232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Model fit on Train set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4155E61-6412-466B-8171-91B22D2D0439}"/>
              </a:ext>
            </a:extLst>
          </p:cNvPr>
          <p:cNvSpPr/>
          <p:nvPr/>
        </p:nvSpPr>
        <p:spPr>
          <a:xfrm>
            <a:off x="590207" y="4381469"/>
            <a:ext cx="1082949" cy="7504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Train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B4D9042-10A9-4989-A9A6-C49A6D5833E7}"/>
              </a:ext>
            </a:extLst>
          </p:cNvPr>
          <p:cNvSpPr/>
          <p:nvPr/>
        </p:nvSpPr>
        <p:spPr>
          <a:xfrm>
            <a:off x="590207" y="5285624"/>
            <a:ext cx="1082949" cy="7504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Test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6AAC37-7BD3-450A-942F-1CAE9DCCFB31}"/>
              </a:ext>
            </a:extLst>
          </p:cNvPr>
          <p:cNvSpPr/>
          <p:nvPr/>
        </p:nvSpPr>
        <p:spPr>
          <a:xfrm>
            <a:off x="243190" y="3696514"/>
            <a:ext cx="2470827" cy="28222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C91A029-C088-458B-91F6-BB90BD027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90935"/>
              </p:ext>
            </p:extLst>
          </p:nvPr>
        </p:nvGraphicFramePr>
        <p:xfrm>
          <a:off x="6391072" y="1061272"/>
          <a:ext cx="523348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494">
                  <a:extLst>
                    <a:ext uri="{9D8B030D-6E8A-4147-A177-3AD203B41FA5}">
                      <a16:colId xmlns:a16="http://schemas.microsoft.com/office/drawing/2014/main" val="2497960885"/>
                    </a:ext>
                  </a:extLst>
                </a:gridCol>
                <a:gridCol w="1744494">
                  <a:extLst>
                    <a:ext uri="{9D8B030D-6E8A-4147-A177-3AD203B41FA5}">
                      <a16:colId xmlns:a16="http://schemas.microsoft.com/office/drawing/2014/main" val="3014459549"/>
                    </a:ext>
                  </a:extLst>
                </a:gridCol>
                <a:gridCol w="1744494">
                  <a:extLst>
                    <a:ext uri="{9D8B030D-6E8A-4147-A177-3AD203B41FA5}">
                      <a16:colId xmlns:a16="http://schemas.microsoft.com/office/drawing/2014/main" val="3730919366"/>
                    </a:ext>
                  </a:extLst>
                </a:gridCol>
              </a:tblGrid>
              <a:tr h="511674">
                <a:tc>
                  <a:txBody>
                    <a:bodyPr/>
                    <a:lstStyle/>
                    <a:p>
                      <a:r>
                        <a:rPr lang="en-CA" sz="1400" b="0" dirty="0">
                          <a:solidFill>
                            <a:schemeClr val="tx1"/>
                          </a:solidFill>
                        </a:rPr>
                        <a:t>.78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400" b="0" dirty="0">
                          <a:solidFill>
                            <a:schemeClr val="tx1"/>
                          </a:solidFill>
                        </a:rPr>
                        <a:t>.88 (delayed </a:t>
                      </a:r>
                      <a:r>
                        <a:rPr lang="en-CA" sz="1400" b="0" dirty="0" err="1">
                          <a:solidFill>
                            <a:schemeClr val="tx1"/>
                          </a:solidFill>
                        </a:rPr>
                        <a:t>unitll</a:t>
                      </a:r>
                      <a:r>
                        <a:rPr lang="en-CA" sz="1400" b="0" dirty="0">
                          <a:solidFill>
                            <a:schemeClr val="tx1"/>
                          </a:solidFill>
                        </a:rPr>
                        <a:t> next round)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53496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F74F914C-5C92-4E59-B01C-9E5986DECD62}"/>
              </a:ext>
            </a:extLst>
          </p:cNvPr>
          <p:cNvSpPr txBox="1"/>
          <p:nvPr/>
        </p:nvSpPr>
        <p:spPr>
          <a:xfrm>
            <a:off x="7989585" y="1645115"/>
            <a:ext cx="2869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ranking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71632CC-659D-4D8E-B3DC-2BA98DC96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024755"/>
              </p:ext>
            </p:extLst>
          </p:nvPr>
        </p:nvGraphicFramePr>
        <p:xfrm>
          <a:off x="6391071" y="1970193"/>
          <a:ext cx="5411820" cy="1023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940">
                  <a:extLst>
                    <a:ext uri="{9D8B030D-6E8A-4147-A177-3AD203B41FA5}">
                      <a16:colId xmlns:a16="http://schemas.microsoft.com/office/drawing/2014/main" val="2497960885"/>
                    </a:ext>
                  </a:extLst>
                </a:gridCol>
                <a:gridCol w="1803940">
                  <a:extLst>
                    <a:ext uri="{9D8B030D-6E8A-4147-A177-3AD203B41FA5}">
                      <a16:colId xmlns:a16="http://schemas.microsoft.com/office/drawing/2014/main" val="3014459549"/>
                    </a:ext>
                  </a:extLst>
                </a:gridCol>
                <a:gridCol w="1803940">
                  <a:extLst>
                    <a:ext uri="{9D8B030D-6E8A-4147-A177-3AD203B41FA5}">
                      <a16:colId xmlns:a16="http://schemas.microsoft.com/office/drawing/2014/main" val="3730919366"/>
                    </a:ext>
                  </a:extLst>
                </a:gridCol>
              </a:tblGrid>
              <a:tr h="511674">
                <a:tc>
                  <a:txBody>
                    <a:bodyPr/>
                    <a:lstStyle/>
                    <a:p>
                      <a:r>
                        <a:rPr lang="en-CA" dirty="0"/>
                        <a:t># bedrooms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534965"/>
                  </a:ext>
                </a:extLst>
              </a:tr>
              <a:tr h="511674">
                <a:tc>
                  <a:txBody>
                    <a:bodyPr/>
                    <a:lstStyle/>
                    <a:p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272018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33973174-80F8-4D99-A319-70BAD442BCFD}"/>
              </a:ext>
            </a:extLst>
          </p:cNvPr>
          <p:cNvSpPr txBox="1"/>
          <p:nvPr/>
        </p:nvSpPr>
        <p:spPr>
          <a:xfrm>
            <a:off x="5794814" y="78637"/>
            <a:ext cx="3882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Program flow of </a:t>
            </a:r>
            <a:r>
              <a:rPr lang="en-CA" dirty="0" err="1"/>
              <a:t>rfe</a:t>
            </a:r>
            <a:r>
              <a:rPr lang="en-CA" dirty="0"/>
              <a:t> (_</a:t>
            </a:r>
            <a:r>
              <a:rPr lang="en-CA" dirty="0" err="1"/>
              <a:t>rfe_single_fit</a:t>
            </a:r>
            <a:r>
              <a:rPr lang="en-CA" dirty="0"/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CC1E8B-64CC-4B29-8FFD-9F7359E51E9E}"/>
              </a:ext>
            </a:extLst>
          </p:cNvPr>
          <p:cNvSpPr/>
          <p:nvPr/>
        </p:nvSpPr>
        <p:spPr>
          <a:xfrm>
            <a:off x="7736136" y="5409831"/>
            <a:ext cx="43363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CA" dirty="0"/>
              <a:t>Task: Remove worst performing feature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A94E5C-7570-4602-A8E7-8FD479E78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</p:spTree>
    <p:extLst>
      <p:ext uri="{BB962C8B-B14F-4D97-AF65-F5344CB8AC3E}">
        <p14:creationId xmlns:p14="http://schemas.microsoft.com/office/powerpoint/2010/main" val="851624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09D2F9-1F96-4D21-A02B-1F53AAC93DC8}"/>
              </a:ext>
            </a:extLst>
          </p:cNvPr>
          <p:cNvSpPr txBox="1"/>
          <p:nvPr/>
        </p:nvSpPr>
        <p:spPr>
          <a:xfrm>
            <a:off x="4247621" y="204529"/>
            <a:ext cx="116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A6A2CD-9CFA-4FA3-B0F9-384298083DC2}"/>
              </a:ext>
            </a:extLst>
          </p:cNvPr>
          <p:cNvSpPr txBox="1"/>
          <p:nvPr/>
        </p:nvSpPr>
        <p:spPr>
          <a:xfrm>
            <a:off x="168176" y="143005"/>
            <a:ext cx="334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                                X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0D05FA62-55A4-4ABB-9A42-10D748B9C2E0}"/>
              </a:ext>
            </a:extLst>
          </p:cNvPr>
          <p:cNvSpPr/>
          <p:nvPr/>
        </p:nvSpPr>
        <p:spPr>
          <a:xfrm rot="5400000">
            <a:off x="1887074" y="-775791"/>
            <a:ext cx="193431" cy="278716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0BF1171-BC6E-4574-9A8E-6EAD1725712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43190" y="773669"/>
          <a:ext cx="4774972" cy="221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971">
                  <a:extLst>
                    <a:ext uri="{9D8B030D-6E8A-4147-A177-3AD203B41FA5}">
                      <a16:colId xmlns:a16="http://schemas.microsoft.com/office/drawing/2014/main" val="1499869525"/>
                    </a:ext>
                  </a:extLst>
                </a:gridCol>
                <a:gridCol w="1245141">
                  <a:extLst>
                    <a:ext uri="{9D8B030D-6E8A-4147-A177-3AD203B41FA5}">
                      <a16:colId xmlns:a16="http://schemas.microsoft.com/office/drawing/2014/main" val="2802160851"/>
                    </a:ext>
                  </a:extLst>
                </a:gridCol>
                <a:gridCol w="870195">
                  <a:extLst>
                    <a:ext uri="{9D8B030D-6E8A-4147-A177-3AD203B41FA5}">
                      <a16:colId xmlns:a16="http://schemas.microsoft.com/office/drawing/2014/main" val="917520392"/>
                    </a:ext>
                  </a:extLst>
                </a:gridCol>
                <a:gridCol w="1122665">
                  <a:extLst>
                    <a:ext uri="{9D8B030D-6E8A-4147-A177-3AD203B41FA5}">
                      <a16:colId xmlns:a16="http://schemas.microsoft.com/office/drawing/2014/main" val="2050734818"/>
                    </a:ext>
                  </a:extLst>
                </a:gridCol>
              </a:tblGrid>
              <a:tr h="673535">
                <a:tc>
                  <a:txBody>
                    <a:bodyPr/>
                    <a:lstStyle/>
                    <a:p>
                      <a:r>
                        <a:rPr lang="en-CA" dirty="0"/>
                        <a:t># bedrooms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Price (1k)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5273"/>
                  </a:ext>
                </a:extLst>
              </a:tr>
              <a:tr h="384877">
                <a:tc>
                  <a:txBody>
                    <a:bodyPr/>
                    <a:lstStyle/>
                    <a:p>
                      <a:r>
                        <a:rPr lang="en-CA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627901"/>
                  </a:ext>
                </a:extLst>
              </a:tr>
              <a:tr h="384877">
                <a:tc>
                  <a:txBody>
                    <a:bodyPr/>
                    <a:lstStyle/>
                    <a:p>
                      <a:r>
                        <a:rPr lang="en-CA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520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383753"/>
                  </a:ext>
                </a:extLst>
              </a:tr>
              <a:tr h="384877">
                <a:tc>
                  <a:txBody>
                    <a:bodyPr/>
                    <a:lstStyle/>
                    <a:p>
                      <a:r>
                        <a:rPr lang="en-CA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410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389708"/>
                  </a:ext>
                </a:extLst>
              </a:tr>
              <a:tr h="384877">
                <a:tc>
                  <a:txBody>
                    <a:bodyPr/>
                    <a:lstStyle/>
                    <a:p>
                      <a:r>
                        <a:rPr lang="en-CA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880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872828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2533C0F-A3A1-44E3-9B17-570CF248E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712364"/>
              </p:ext>
            </p:extLst>
          </p:nvPr>
        </p:nvGraphicFramePr>
        <p:xfrm>
          <a:off x="3972870" y="3429000"/>
          <a:ext cx="2746058" cy="1193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981">
                  <a:extLst>
                    <a:ext uri="{9D8B030D-6E8A-4147-A177-3AD203B41FA5}">
                      <a16:colId xmlns:a16="http://schemas.microsoft.com/office/drawing/2014/main" val="4172819880"/>
                    </a:ext>
                  </a:extLst>
                </a:gridCol>
                <a:gridCol w="1320077">
                  <a:extLst>
                    <a:ext uri="{9D8B030D-6E8A-4147-A177-3AD203B41FA5}">
                      <a16:colId xmlns:a16="http://schemas.microsoft.com/office/drawing/2014/main" val="1382468681"/>
                    </a:ext>
                  </a:extLst>
                </a:gridCol>
              </a:tblGrid>
              <a:tr h="596561">
                <a:tc>
                  <a:txBody>
                    <a:bodyPr/>
                    <a:lstStyle/>
                    <a:p>
                      <a:r>
                        <a:rPr lang="en-CA" dirty="0"/>
                        <a:t># bedrooms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081895"/>
                  </a:ext>
                </a:extLst>
              </a:tr>
              <a:tr h="596561">
                <a:tc>
                  <a:txBody>
                    <a:bodyPr/>
                    <a:lstStyle/>
                    <a:p>
                      <a:r>
                        <a:rPr lang="en-CA" dirty="0"/>
                        <a:t>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33468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3FAC509-22FD-4C58-AD34-6652C1A093FE}"/>
              </a:ext>
            </a:extLst>
          </p:cNvPr>
          <p:cNvSpPr txBox="1"/>
          <p:nvPr/>
        </p:nvSpPr>
        <p:spPr>
          <a:xfrm>
            <a:off x="4523362" y="3063378"/>
            <a:ext cx="2869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model.feature_importance</a:t>
            </a:r>
            <a:endParaRPr lang="en-CA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699F8FD-A3C1-4C0A-87B2-DD0489BBD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792661"/>
              </p:ext>
            </p:extLst>
          </p:nvPr>
        </p:nvGraphicFramePr>
        <p:xfrm>
          <a:off x="3992326" y="5325666"/>
          <a:ext cx="2746058" cy="1193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981">
                  <a:extLst>
                    <a:ext uri="{9D8B030D-6E8A-4147-A177-3AD203B41FA5}">
                      <a16:colId xmlns:a16="http://schemas.microsoft.com/office/drawing/2014/main" val="4172819880"/>
                    </a:ext>
                  </a:extLst>
                </a:gridCol>
                <a:gridCol w="1320077">
                  <a:extLst>
                    <a:ext uri="{9D8B030D-6E8A-4147-A177-3AD203B41FA5}">
                      <a16:colId xmlns:a16="http://schemas.microsoft.com/office/drawing/2014/main" val="1382468681"/>
                    </a:ext>
                  </a:extLst>
                </a:gridCol>
              </a:tblGrid>
              <a:tr h="596561">
                <a:tc>
                  <a:txBody>
                    <a:bodyPr/>
                    <a:lstStyle/>
                    <a:p>
                      <a:r>
                        <a:rPr lang="en-CA" dirty="0"/>
                        <a:t># bedrooms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081895"/>
                  </a:ext>
                </a:extLst>
              </a:tr>
              <a:tr h="596561">
                <a:tc>
                  <a:txBody>
                    <a:bodyPr/>
                    <a:lstStyle/>
                    <a:p>
                      <a:r>
                        <a:rPr lang="en-CA" dirty="0"/>
                        <a:t>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334686"/>
                  </a:ext>
                </a:extLst>
              </a:tr>
            </a:tbl>
          </a:graphicData>
        </a:graphic>
      </p:graphicFrame>
      <p:sp>
        <p:nvSpPr>
          <p:cNvPr id="20" name="Arrow: Down 19">
            <a:extLst>
              <a:ext uri="{FF2B5EF4-FFF2-40B4-BE49-F238E27FC236}">
                <a16:creationId xmlns:a16="http://schemas.microsoft.com/office/drawing/2014/main" id="{C7A8F7F3-635D-4BFF-AC91-5770A1B5A503}"/>
              </a:ext>
            </a:extLst>
          </p:cNvPr>
          <p:cNvSpPr/>
          <p:nvPr/>
        </p:nvSpPr>
        <p:spPr>
          <a:xfrm>
            <a:off x="5548322" y="4721489"/>
            <a:ext cx="409870" cy="4474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FC228C04-32E9-423A-BFB6-922A980D7EED}"/>
              </a:ext>
            </a:extLst>
          </p:cNvPr>
          <p:cNvSpPr/>
          <p:nvPr/>
        </p:nvSpPr>
        <p:spPr>
          <a:xfrm>
            <a:off x="5638800" y="5764835"/>
            <a:ext cx="914400" cy="789197"/>
          </a:xfrm>
          <a:prstGeom prst="mathMultiply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41C751-81EF-4766-951E-C6AD8E58E9DF}"/>
              </a:ext>
            </a:extLst>
          </p:cNvPr>
          <p:cNvSpPr txBox="1"/>
          <p:nvPr/>
        </p:nvSpPr>
        <p:spPr>
          <a:xfrm>
            <a:off x="7973375" y="714506"/>
            <a:ext cx="3086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Scores ( r-squared on Test set)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3382275E-8D8C-44EE-8F6C-0DC9FBB673A2}"/>
              </a:ext>
            </a:extLst>
          </p:cNvPr>
          <p:cNvSpPr/>
          <p:nvPr/>
        </p:nvSpPr>
        <p:spPr>
          <a:xfrm rot="5400000">
            <a:off x="916830" y="3232017"/>
            <a:ext cx="493681" cy="4353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ED2224-1642-4336-ABC6-65FF9E08265F}"/>
              </a:ext>
            </a:extLst>
          </p:cNvPr>
          <p:cNvSpPr txBox="1"/>
          <p:nvPr/>
        </p:nvSpPr>
        <p:spPr>
          <a:xfrm>
            <a:off x="243190" y="3781956"/>
            <a:ext cx="232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Model fit on Train set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4155E61-6412-466B-8171-91B22D2D0439}"/>
              </a:ext>
            </a:extLst>
          </p:cNvPr>
          <p:cNvSpPr/>
          <p:nvPr/>
        </p:nvSpPr>
        <p:spPr>
          <a:xfrm>
            <a:off x="590207" y="4381469"/>
            <a:ext cx="1082949" cy="7504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Train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B4D9042-10A9-4989-A9A6-C49A6D5833E7}"/>
              </a:ext>
            </a:extLst>
          </p:cNvPr>
          <p:cNvSpPr/>
          <p:nvPr/>
        </p:nvSpPr>
        <p:spPr>
          <a:xfrm>
            <a:off x="590207" y="5285624"/>
            <a:ext cx="1082949" cy="7504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Test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6AAC37-7BD3-450A-942F-1CAE9DCCFB31}"/>
              </a:ext>
            </a:extLst>
          </p:cNvPr>
          <p:cNvSpPr/>
          <p:nvPr/>
        </p:nvSpPr>
        <p:spPr>
          <a:xfrm>
            <a:off x="243190" y="3696514"/>
            <a:ext cx="2470827" cy="28222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C91A029-C088-458B-91F6-BB90BD027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488471"/>
              </p:ext>
            </p:extLst>
          </p:nvPr>
        </p:nvGraphicFramePr>
        <p:xfrm>
          <a:off x="6391071" y="1061272"/>
          <a:ext cx="523348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494">
                  <a:extLst>
                    <a:ext uri="{9D8B030D-6E8A-4147-A177-3AD203B41FA5}">
                      <a16:colId xmlns:a16="http://schemas.microsoft.com/office/drawing/2014/main" val="2497960885"/>
                    </a:ext>
                  </a:extLst>
                </a:gridCol>
                <a:gridCol w="1744494">
                  <a:extLst>
                    <a:ext uri="{9D8B030D-6E8A-4147-A177-3AD203B41FA5}">
                      <a16:colId xmlns:a16="http://schemas.microsoft.com/office/drawing/2014/main" val="3014459549"/>
                    </a:ext>
                  </a:extLst>
                </a:gridCol>
                <a:gridCol w="1744494">
                  <a:extLst>
                    <a:ext uri="{9D8B030D-6E8A-4147-A177-3AD203B41FA5}">
                      <a16:colId xmlns:a16="http://schemas.microsoft.com/office/drawing/2014/main" val="3730919366"/>
                    </a:ext>
                  </a:extLst>
                </a:gridCol>
              </a:tblGrid>
              <a:tr h="484476">
                <a:tc>
                  <a:txBody>
                    <a:bodyPr/>
                    <a:lstStyle/>
                    <a:p>
                      <a:r>
                        <a:rPr lang="en-CA" sz="1400" b="0" dirty="0">
                          <a:solidFill>
                            <a:schemeClr val="tx1"/>
                          </a:solidFill>
                        </a:rPr>
                        <a:t>.78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400" b="0" dirty="0">
                          <a:solidFill>
                            <a:schemeClr val="tx1"/>
                          </a:solidFill>
                        </a:rPr>
                        <a:t>.88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b="0" dirty="0">
                          <a:solidFill>
                            <a:schemeClr val="tx1"/>
                          </a:solidFill>
                        </a:rPr>
                        <a:t>.6 (delayed </a:t>
                      </a:r>
                      <a:r>
                        <a:rPr lang="en-CA" sz="1400" b="0" dirty="0" err="1">
                          <a:solidFill>
                            <a:schemeClr val="tx1"/>
                          </a:solidFill>
                        </a:rPr>
                        <a:t>unitll</a:t>
                      </a:r>
                      <a:r>
                        <a:rPr lang="en-CA" sz="1400" b="0" dirty="0">
                          <a:solidFill>
                            <a:schemeClr val="tx1"/>
                          </a:solidFill>
                        </a:rPr>
                        <a:t> next round)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53496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F74F914C-5C92-4E59-B01C-9E5986DECD62}"/>
              </a:ext>
            </a:extLst>
          </p:cNvPr>
          <p:cNvSpPr txBox="1"/>
          <p:nvPr/>
        </p:nvSpPr>
        <p:spPr>
          <a:xfrm>
            <a:off x="7989585" y="1645115"/>
            <a:ext cx="2869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ranking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71632CC-659D-4D8E-B3DC-2BA98DC96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11536"/>
              </p:ext>
            </p:extLst>
          </p:nvPr>
        </p:nvGraphicFramePr>
        <p:xfrm>
          <a:off x="6391071" y="1970193"/>
          <a:ext cx="5411820" cy="1023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940">
                  <a:extLst>
                    <a:ext uri="{9D8B030D-6E8A-4147-A177-3AD203B41FA5}">
                      <a16:colId xmlns:a16="http://schemas.microsoft.com/office/drawing/2014/main" val="2497960885"/>
                    </a:ext>
                  </a:extLst>
                </a:gridCol>
                <a:gridCol w="1803940">
                  <a:extLst>
                    <a:ext uri="{9D8B030D-6E8A-4147-A177-3AD203B41FA5}">
                      <a16:colId xmlns:a16="http://schemas.microsoft.com/office/drawing/2014/main" val="3014459549"/>
                    </a:ext>
                  </a:extLst>
                </a:gridCol>
                <a:gridCol w="1803940">
                  <a:extLst>
                    <a:ext uri="{9D8B030D-6E8A-4147-A177-3AD203B41FA5}">
                      <a16:colId xmlns:a16="http://schemas.microsoft.com/office/drawing/2014/main" val="3730919366"/>
                    </a:ext>
                  </a:extLst>
                </a:gridCol>
              </a:tblGrid>
              <a:tr h="511674">
                <a:tc>
                  <a:txBody>
                    <a:bodyPr/>
                    <a:lstStyle/>
                    <a:p>
                      <a:r>
                        <a:rPr lang="en-CA" dirty="0"/>
                        <a:t># bedrooms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534965"/>
                  </a:ext>
                </a:extLst>
              </a:tr>
              <a:tr h="511674">
                <a:tc>
                  <a:txBody>
                    <a:bodyPr/>
                    <a:lstStyle/>
                    <a:p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272018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33973174-80F8-4D99-A319-70BAD442BCFD}"/>
              </a:ext>
            </a:extLst>
          </p:cNvPr>
          <p:cNvSpPr txBox="1"/>
          <p:nvPr/>
        </p:nvSpPr>
        <p:spPr>
          <a:xfrm>
            <a:off x="5794814" y="78637"/>
            <a:ext cx="3882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Program flow of </a:t>
            </a:r>
            <a:r>
              <a:rPr lang="en-CA" dirty="0" err="1"/>
              <a:t>rfe</a:t>
            </a:r>
            <a:r>
              <a:rPr lang="en-CA" dirty="0"/>
              <a:t> (_</a:t>
            </a:r>
            <a:r>
              <a:rPr lang="en-CA" dirty="0" err="1"/>
              <a:t>rfe_single_fit</a:t>
            </a:r>
            <a:r>
              <a:rPr lang="en-CA" dirty="0"/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CC1E8B-64CC-4B29-8FFD-9F7359E51E9E}"/>
              </a:ext>
            </a:extLst>
          </p:cNvPr>
          <p:cNvSpPr/>
          <p:nvPr/>
        </p:nvSpPr>
        <p:spPr>
          <a:xfrm>
            <a:off x="7100032" y="5028219"/>
            <a:ext cx="43363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CA" dirty="0"/>
              <a:t>Task: Remove worst performing feature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141C95-D114-468A-9497-AEC8A0AEB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</p:spTree>
    <p:extLst>
      <p:ext uri="{BB962C8B-B14F-4D97-AF65-F5344CB8AC3E}">
        <p14:creationId xmlns:p14="http://schemas.microsoft.com/office/powerpoint/2010/main" val="1672886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3B53BB-AF9D-4488-97E3-3B15C362675E}"/>
              </a:ext>
            </a:extLst>
          </p:cNvPr>
          <p:cNvSpPr txBox="1"/>
          <p:nvPr/>
        </p:nvSpPr>
        <p:spPr>
          <a:xfrm>
            <a:off x="1787387" y="2551837"/>
            <a:ext cx="86172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CA" dirty="0"/>
              <a:t>Recursive feature elimination (</a:t>
            </a:r>
            <a:r>
              <a:rPr lang="en-CA" dirty="0" err="1"/>
              <a:t>rfe</a:t>
            </a:r>
            <a:r>
              <a:rPr lang="en-CA" dirty="0"/>
              <a:t>) is repeated until </a:t>
            </a:r>
          </a:p>
          <a:p>
            <a:pPr algn="just"/>
            <a:r>
              <a:rPr lang="en-CA" dirty="0"/>
              <a:t>      </a:t>
            </a:r>
            <a:r>
              <a:rPr lang="en-CA" sz="1400" b="1" dirty="0"/>
              <a:t>#(remaining features) &gt;= </a:t>
            </a:r>
            <a:r>
              <a:rPr lang="en-CA" sz="1400" b="1" dirty="0" err="1"/>
              <a:t>n_features_to_select</a:t>
            </a:r>
            <a:r>
              <a:rPr lang="en-CA" dirty="0"/>
              <a:t> </a:t>
            </a:r>
          </a:p>
          <a:p>
            <a:pPr algn="just"/>
            <a:r>
              <a:rPr lang="en-CA" dirty="0"/>
              <a:t>      where </a:t>
            </a:r>
            <a:r>
              <a:rPr lang="en-CA" dirty="0" err="1"/>
              <a:t>n_features_to_select</a:t>
            </a:r>
            <a:r>
              <a:rPr lang="en-CA" dirty="0"/>
              <a:t> is a parameter passed during runtime</a:t>
            </a:r>
          </a:p>
          <a:p>
            <a:pPr algn="just"/>
            <a:endParaRPr lang="en-CA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CA" dirty="0"/>
              <a:t>When </a:t>
            </a:r>
            <a:r>
              <a:rPr lang="en-CA" dirty="0" err="1"/>
              <a:t>n_features_to_select</a:t>
            </a:r>
            <a:r>
              <a:rPr lang="en-CA" dirty="0"/>
              <a:t> is None, then </a:t>
            </a:r>
          </a:p>
          <a:p>
            <a:pPr algn="just"/>
            <a:r>
              <a:rPr lang="en-CA" dirty="0"/>
              <a:t>	 </a:t>
            </a:r>
            <a:r>
              <a:rPr lang="en-CA" dirty="0" err="1"/>
              <a:t>n_features_to_select</a:t>
            </a:r>
            <a:r>
              <a:rPr lang="en-CA" dirty="0"/>
              <a:t> = Total number of features / 2 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FCA250-368D-47AF-AD7D-8F1708380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</p:spTree>
    <p:extLst>
      <p:ext uri="{BB962C8B-B14F-4D97-AF65-F5344CB8AC3E}">
        <p14:creationId xmlns:p14="http://schemas.microsoft.com/office/powerpoint/2010/main" val="3408608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DE183-9CBA-4A5C-8BE8-3225F65B1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DEF89-6EE5-493C-84D2-E8880BF34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DD157F-F5B5-49E6-ABA7-DEC3A2E33D39}"/>
              </a:ext>
            </a:extLst>
          </p:cNvPr>
          <p:cNvSpPr/>
          <p:nvPr/>
        </p:nvSpPr>
        <p:spPr>
          <a:xfrm>
            <a:off x="3648809" y="3198168"/>
            <a:ext cx="50578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CA" sz="2400" dirty="0"/>
              <a:t>Recursive feature elimination using cross-validation (</a:t>
            </a:r>
            <a:r>
              <a:rPr lang="en-CA" sz="2400" dirty="0" err="1"/>
              <a:t>rfecv</a:t>
            </a:r>
            <a:r>
              <a:rPr lang="en-CA" sz="2400" dirty="0"/>
              <a:t>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BD0B8-6AFA-4084-B89A-A39DD428C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</p:spTree>
    <p:extLst>
      <p:ext uri="{BB962C8B-B14F-4D97-AF65-F5344CB8AC3E}">
        <p14:creationId xmlns:p14="http://schemas.microsoft.com/office/powerpoint/2010/main" val="3289960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0CA7-BD20-43A7-A17E-B0BBB1E8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DFE24-CE41-480C-86C0-F3F58EFB8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rfecv</a:t>
            </a:r>
            <a:r>
              <a:rPr lang="en-CA" dirty="0"/>
              <a:t> repeats </a:t>
            </a:r>
            <a:r>
              <a:rPr lang="en-CA" dirty="0" err="1"/>
              <a:t>rfe</a:t>
            </a:r>
            <a:r>
              <a:rPr lang="en-CA" dirty="0"/>
              <a:t> with k-fold cross validation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369D65-5817-49BF-B26C-515122905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588724"/>
              </p:ext>
            </p:extLst>
          </p:nvPr>
        </p:nvGraphicFramePr>
        <p:xfrm>
          <a:off x="4741176" y="3724958"/>
          <a:ext cx="5233482" cy="20466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4494">
                  <a:extLst>
                    <a:ext uri="{9D8B030D-6E8A-4147-A177-3AD203B41FA5}">
                      <a16:colId xmlns:a16="http://schemas.microsoft.com/office/drawing/2014/main" val="2497960885"/>
                    </a:ext>
                  </a:extLst>
                </a:gridCol>
                <a:gridCol w="1744494">
                  <a:extLst>
                    <a:ext uri="{9D8B030D-6E8A-4147-A177-3AD203B41FA5}">
                      <a16:colId xmlns:a16="http://schemas.microsoft.com/office/drawing/2014/main" val="3014459549"/>
                    </a:ext>
                  </a:extLst>
                </a:gridCol>
                <a:gridCol w="1744494">
                  <a:extLst>
                    <a:ext uri="{9D8B030D-6E8A-4147-A177-3AD203B41FA5}">
                      <a16:colId xmlns:a16="http://schemas.microsoft.com/office/drawing/2014/main" val="3730919366"/>
                    </a:ext>
                  </a:extLst>
                </a:gridCol>
              </a:tblGrid>
              <a:tr h="511674">
                <a:tc>
                  <a:txBody>
                    <a:bodyPr/>
                    <a:lstStyle/>
                    <a:p>
                      <a:r>
                        <a:rPr lang="en-CA" sz="1400" dirty="0"/>
                        <a:t>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758103"/>
                  </a:ext>
                </a:extLst>
              </a:tr>
              <a:tr h="511674">
                <a:tc>
                  <a:txBody>
                    <a:bodyPr/>
                    <a:lstStyle/>
                    <a:p>
                      <a:r>
                        <a:rPr lang="en-CA" sz="1400" dirty="0"/>
                        <a:t>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904852"/>
                  </a:ext>
                </a:extLst>
              </a:tr>
              <a:tr h="511674">
                <a:tc>
                  <a:txBody>
                    <a:bodyPr/>
                    <a:lstStyle/>
                    <a:p>
                      <a:r>
                        <a:rPr lang="en-CA" sz="1400" dirty="0"/>
                        <a:t>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534965"/>
                  </a:ext>
                </a:extLst>
              </a:tr>
              <a:tr h="511674">
                <a:tc>
                  <a:txBody>
                    <a:bodyPr/>
                    <a:lstStyle/>
                    <a:p>
                      <a:r>
                        <a:rPr lang="en-CA" sz="1400" dirty="0"/>
                        <a:t>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00999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8072851-3EDB-40BF-A53A-BA844776F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373" y="3614831"/>
            <a:ext cx="2667000" cy="226695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C1A586-B8AA-4B67-95ED-0E31B3B35EEC}"/>
              </a:ext>
            </a:extLst>
          </p:cNvPr>
          <p:cNvCxnSpPr/>
          <p:nvPr/>
        </p:nvCxnSpPr>
        <p:spPr>
          <a:xfrm>
            <a:off x="10352389" y="3724958"/>
            <a:ext cx="0" cy="2156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771B79-E1D1-4BCB-812D-3685A9EE614E}"/>
                  </a:ext>
                </a:extLst>
              </p:cNvPr>
              <p:cNvSpPr txBox="1"/>
              <p:nvPr/>
            </p:nvSpPr>
            <p:spPr>
              <a:xfrm>
                <a:off x="4867187" y="5771654"/>
                <a:ext cx="1069011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CA"/>
                            <m:t>2.17</m:t>
                          </m:r>
                        </m:e>
                      </m:nary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771B79-E1D1-4BCB-812D-3685A9EE6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187" y="5771654"/>
                <a:ext cx="1069011" cy="670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7154E7-A1D1-4977-AC80-45E7A52EC933}"/>
                  </a:ext>
                </a:extLst>
              </p:cNvPr>
              <p:cNvSpPr txBox="1"/>
              <p:nvPr/>
            </p:nvSpPr>
            <p:spPr>
              <a:xfrm>
                <a:off x="6675718" y="5778206"/>
                <a:ext cx="1069011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CA"/>
                            <m:t>3.14</m:t>
                          </m:r>
                        </m:e>
                      </m:nary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7154E7-A1D1-4977-AC80-45E7A52EC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718" y="5778206"/>
                <a:ext cx="1069011" cy="6707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01213C-8BA4-49EB-A7D5-723A68A2F6C4}"/>
                  </a:ext>
                </a:extLst>
              </p:cNvPr>
              <p:cNvSpPr txBox="1"/>
              <p:nvPr/>
            </p:nvSpPr>
            <p:spPr>
              <a:xfrm>
                <a:off x="8351347" y="5751137"/>
                <a:ext cx="951992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CA"/>
                            <m:t>2.1</m:t>
                          </m:r>
                        </m:e>
                      </m:nary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01213C-8BA4-49EB-A7D5-723A68A2F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347" y="5751137"/>
                <a:ext cx="951992" cy="6707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B7CF7EB-3637-4964-9C42-56AC1ACD5AFB}"/>
              </a:ext>
            </a:extLst>
          </p:cNvPr>
          <p:cNvSpPr txBox="1"/>
          <p:nvPr/>
        </p:nvSpPr>
        <p:spPr>
          <a:xfrm>
            <a:off x="5108713" y="218661"/>
            <a:ext cx="4166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Program flow of </a:t>
            </a:r>
            <a:r>
              <a:rPr lang="en-CA" dirty="0" err="1"/>
              <a:t>rfecv.fit</a:t>
            </a:r>
            <a:r>
              <a:rPr lang="en-CA" dirty="0"/>
              <a:t> method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C3020E-8ABB-4582-AEC7-DCB56A7B17A6}"/>
              </a:ext>
            </a:extLst>
          </p:cNvPr>
          <p:cNvSpPr txBox="1"/>
          <p:nvPr/>
        </p:nvSpPr>
        <p:spPr>
          <a:xfrm>
            <a:off x="4741176" y="3133042"/>
            <a:ext cx="3086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Scores ( r-squared on Test set)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D94B-DEC9-4D86-9C52-9976CDB97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</p:spTree>
    <p:extLst>
      <p:ext uri="{BB962C8B-B14F-4D97-AF65-F5344CB8AC3E}">
        <p14:creationId xmlns:p14="http://schemas.microsoft.com/office/powerpoint/2010/main" val="3699153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0CA7-BD20-43A7-A17E-B0BBB1E8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DFE24-CE41-480C-86C0-F3F58EFB8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Position where cv scores reach its peak is selected as the optimal number of features (aka </a:t>
            </a:r>
            <a:r>
              <a:rPr lang="en-CA" dirty="0" err="1"/>
              <a:t>n_features_to_select</a:t>
            </a:r>
            <a:r>
              <a:rPr lang="en-CA" dirty="0"/>
              <a:t>)</a:t>
            </a:r>
          </a:p>
          <a:p>
            <a:r>
              <a:rPr lang="en-CA" dirty="0"/>
              <a:t>In the following example, number of optimal features is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7CF7EB-3637-4964-9C42-56AC1ACD5AFB}"/>
              </a:ext>
            </a:extLst>
          </p:cNvPr>
          <p:cNvSpPr txBox="1"/>
          <p:nvPr/>
        </p:nvSpPr>
        <p:spPr>
          <a:xfrm>
            <a:off x="5108713" y="218661"/>
            <a:ext cx="4166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Program flow of </a:t>
            </a:r>
            <a:r>
              <a:rPr lang="en-CA" dirty="0" err="1"/>
              <a:t>rfecv.fit</a:t>
            </a:r>
            <a:r>
              <a:rPr lang="en-CA" dirty="0"/>
              <a:t> method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D07C18-33BC-45ED-8C21-4058BB21ECEE}"/>
              </a:ext>
            </a:extLst>
          </p:cNvPr>
          <p:cNvSpPr txBox="1"/>
          <p:nvPr/>
        </p:nvSpPr>
        <p:spPr>
          <a:xfrm>
            <a:off x="3978335" y="3689662"/>
            <a:ext cx="3717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Total CV Scores ( reverse order)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7B854E4-E77E-44FE-949C-DAC74BECD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183858"/>
              </p:ext>
            </p:extLst>
          </p:nvPr>
        </p:nvGraphicFramePr>
        <p:xfrm>
          <a:off x="3022847" y="4513534"/>
          <a:ext cx="5233482" cy="5116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4494">
                  <a:extLst>
                    <a:ext uri="{9D8B030D-6E8A-4147-A177-3AD203B41FA5}">
                      <a16:colId xmlns:a16="http://schemas.microsoft.com/office/drawing/2014/main" val="2497960885"/>
                    </a:ext>
                  </a:extLst>
                </a:gridCol>
                <a:gridCol w="1744494">
                  <a:extLst>
                    <a:ext uri="{9D8B030D-6E8A-4147-A177-3AD203B41FA5}">
                      <a16:colId xmlns:a16="http://schemas.microsoft.com/office/drawing/2014/main" val="3014459549"/>
                    </a:ext>
                  </a:extLst>
                </a:gridCol>
                <a:gridCol w="1744494">
                  <a:extLst>
                    <a:ext uri="{9D8B030D-6E8A-4147-A177-3AD203B41FA5}">
                      <a16:colId xmlns:a16="http://schemas.microsoft.com/office/drawing/2014/main" val="3730919366"/>
                    </a:ext>
                  </a:extLst>
                </a:gridCol>
              </a:tblGrid>
              <a:tr h="511674">
                <a:tc>
                  <a:txBody>
                    <a:bodyPr/>
                    <a:lstStyle/>
                    <a:p>
                      <a:r>
                        <a:rPr lang="en-CA" sz="1400" dirty="0"/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.2.17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758103"/>
                  </a:ext>
                </a:extLst>
              </a:tr>
            </a:tbl>
          </a:graphicData>
        </a:graphic>
      </p:graphicFrame>
      <p:sp>
        <p:nvSpPr>
          <p:cNvPr id="7" name="Arrow: Up 6">
            <a:extLst>
              <a:ext uri="{FF2B5EF4-FFF2-40B4-BE49-F238E27FC236}">
                <a16:creationId xmlns:a16="http://schemas.microsoft.com/office/drawing/2014/main" id="{DCC9F4E8-A1C6-487E-A676-3AF0E29F95EE}"/>
              </a:ext>
            </a:extLst>
          </p:cNvPr>
          <p:cNvSpPr/>
          <p:nvPr/>
        </p:nvSpPr>
        <p:spPr>
          <a:xfrm>
            <a:off x="5297933" y="5194781"/>
            <a:ext cx="448407" cy="78877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DBAD47-0DE4-40A5-AE75-0EF94AD7E258}"/>
              </a:ext>
            </a:extLst>
          </p:cNvPr>
          <p:cNvSpPr txBox="1"/>
          <p:nvPr/>
        </p:nvSpPr>
        <p:spPr>
          <a:xfrm>
            <a:off x="3319662" y="4193931"/>
            <a:ext cx="1327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(1 feature)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F7399E-EF8F-4719-A828-AEB850017D66}"/>
              </a:ext>
            </a:extLst>
          </p:cNvPr>
          <p:cNvSpPr txBox="1"/>
          <p:nvPr/>
        </p:nvSpPr>
        <p:spPr>
          <a:xfrm>
            <a:off x="5108713" y="4174979"/>
            <a:ext cx="1327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(2 features)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78504E-677D-4FA3-AEF0-E0F42C3F9AF9}"/>
              </a:ext>
            </a:extLst>
          </p:cNvPr>
          <p:cNvSpPr txBox="1"/>
          <p:nvPr/>
        </p:nvSpPr>
        <p:spPr>
          <a:xfrm>
            <a:off x="6833221" y="4155872"/>
            <a:ext cx="1327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(3 features)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6D0AA-811D-4C1B-B9E3-89C125080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</p:spTree>
    <p:extLst>
      <p:ext uri="{BB962C8B-B14F-4D97-AF65-F5344CB8AC3E}">
        <p14:creationId xmlns:p14="http://schemas.microsoft.com/office/powerpoint/2010/main" val="3410438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489E1-9BFB-4C1B-94BC-4E9A964B5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4FE77-7081-4291-8FD0-0111DD051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Example of CV scores plot where optimal number of features is 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28F01-1AF6-4D70-9CC3-3C487B26CE30}"/>
              </a:ext>
            </a:extLst>
          </p:cNvPr>
          <p:cNvSpPr txBox="1"/>
          <p:nvPr/>
        </p:nvSpPr>
        <p:spPr>
          <a:xfrm>
            <a:off x="586408" y="4745471"/>
            <a:ext cx="92930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- Helps us to decide the minimum number of features needed</a:t>
            </a:r>
          </a:p>
          <a:p>
            <a:r>
              <a:rPr lang="en-CA" dirty="0"/>
              <a:t>- Calls </a:t>
            </a:r>
            <a:r>
              <a:rPr lang="en-CA" dirty="0" err="1"/>
              <a:t>rfe</a:t>
            </a:r>
            <a:r>
              <a:rPr lang="en-CA" dirty="0"/>
              <a:t> one more time with </a:t>
            </a:r>
            <a:r>
              <a:rPr lang="en-CA" dirty="0" err="1"/>
              <a:t>n_features_to_select</a:t>
            </a:r>
            <a:r>
              <a:rPr lang="en-CA" dirty="0"/>
              <a:t> = (Total # features) – </a:t>
            </a:r>
            <a:r>
              <a:rPr lang="en-CA" dirty="0" err="1"/>
              <a:t>peak_indx</a:t>
            </a:r>
            <a:endParaRPr lang="en-CA" dirty="0"/>
          </a:p>
          <a:p>
            <a:r>
              <a:rPr lang="en-CA" dirty="0"/>
              <a:t>      on the entire dataset.</a:t>
            </a:r>
          </a:p>
          <a:p>
            <a:r>
              <a:rPr lang="en-CA" dirty="0"/>
              <a:t>- Last call changes ranking but not </a:t>
            </a:r>
            <a:r>
              <a:rPr lang="en-CA" dirty="0" err="1"/>
              <a:t>CV.scores</a:t>
            </a:r>
            <a:endParaRPr lang="en-CA" dirty="0"/>
          </a:p>
        </p:txBody>
      </p:sp>
      <p:pic>
        <p:nvPicPr>
          <p:cNvPr id="5" name="Picture 2" descr="Image result for rfecv">
            <a:extLst>
              <a:ext uri="{FF2B5EF4-FFF2-40B4-BE49-F238E27FC236}">
                <a16:creationId xmlns:a16="http://schemas.microsoft.com/office/drawing/2014/main" id="{EFFB22E8-1F6D-4571-9F95-0AFD07635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562" y="2235912"/>
            <a:ext cx="5732438" cy="394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4EAE3-A2E3-4F55-BBFE-1CC085E55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Monir Zaman</a:t>
            </a:r>
          </a:p>
        </p:txBody>
      </p:sp>
    </p:spTree>
    <p:extLst>
      <p:ext uri="{BB962C8B-B14F-4D97-AF65-F5344CB8AC3E}">
        <p14:creationId xmlns:p14="http://schemas.microsoft.com/office/powerpoint/2010/main" val="548204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724</Words>
  <Application>Microsoft Office PowerPoint</Application>
  <PresentationFormat>Widescreen</PresentationFormat>
  <Paragraphs>218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Feature selection using Recursive Feature Elimination</vt:lpstr>
      <vt:lpstr>Feature selection</vt:lpstr>
      <vt:lpstr>Feature selection in Machine learning workflow</vt:lpstr>
      <vt:lpstr>Feature selection algorithm</vt:lpstr>
      <vt:lpstr>Recursive feature elimination using Cross-Validation (RFECV)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selection using Recursive Feature Elimination</dc:title>
  <dc:creator>Monir Zaman</dc:creator>
  <cp:lastModifiedBy>Monir Zaman</cp:lastModifiedBy>
  <cp:revision>38</cp:revision>
  <dcterms:created xsi:type="dcterms:W3CDTF">2018-09-09T23:56:24Z</dcterms:created>
  <dcterms:modified xsi:type="dcterms:W3CDTF">2018-11-16T07:28:35Z</dcterms:modified>
</cp:coreProperties>
</file>